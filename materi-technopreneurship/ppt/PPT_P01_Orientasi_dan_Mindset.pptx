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B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97B2A"/>
                </a:solidFill>
                <a:latin typeface="Calibri"/>
              </a:rPr>
              <a:t>PERTEMUAN 1 — ORIENTASI &amp; MIND-SET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Selamat datang di
Technopreneurship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6EEF2"/>
                </a:solidFill>
                <a:latin typeface="Calibri"/>
              </a:rPr>
              <a:t>Hari ini kita mulai dari manusia, bukan dari aplikasi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6EEF2"/>
                </a:solidFill>
                <a:latin typeface="Calibri"/>
              </a:rPr>
              <a:t>S1 Bisnis Digital Semester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2C4C"/>
                </a:solidFill>
                <a:latin typeface="Calibri"/>
              </a:rPr>
              <a:t>Indikator keberhasilan hari 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Apa yang diharapkan dari Anda di akhir pertemuan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642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4C"/>
                </a:solidFill>
                <a:latin typeface="Calibri"/>
              </a:rPr>
              <a:t>Di akhir kelas, Anda mampu: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C1C1C"/>
                </a:solidFill>
                <a:latin typeface="Calibri"/>
              </a:rPr>
              <a:t>1. Menjelaskan tujuan mata kuliah Technopreneurship dengan kata-kata sendiri.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1C1C"/>
                </a:solidFill>
                <a:latin typeface="Calibri"/>
              </a:rPr>
              <a:t>2. Memahami cara kita belajar bersama (kontrak kelas).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1C1C"/>
                </a:solidFill>
                <a:latin typeface="Calibri"/>
              </a:rPr>
              <a:t>3. Menulis 3 masalah sehari-hari yang berpotensi menjadi ide usaha.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1C1C"/>
                </a:solidFill>
                <a:latin typeface="Calibri"/>
              </a:rPr>
              <a:t>Penilaian hari ini: partisipasi aktif + lembar refleksi.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Bisnis Digital Sem 3 · Pertemuan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2C4C"/>
                </a:solidFill>
                <a:latin typeface="Calibri"/>
              </a:rPr>
              <a:t>Alur pertemuan (±100 menit)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Ringan, interaktif, dan langsung dipraktikkan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1371600" cy="68580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9047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10'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325880"/>
            <a:ext cx="923544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1490472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C1C"/>
                </a:solidFill>
                <a:latin typeface="Calibri"/>
              </a:rPr>
              <a:t>Pembuka &amp; kenalan singkat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94560"/>
            <a:ext cx="1371600" cy="685800"/>
          </a:xfrm>
          <a:prstGeom prst="round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915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15'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2194560"/>
            <a:ext cx="923544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2359152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C1C"/>
                </a:solidFill>
                <a:latin typeface="Calibri"/>
              </a:rPr>
              <a:t>Kontrak belajar kita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63239"/>
            <a:ext cx="1371600" cy="68580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2783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35'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3063239"/>
            <a:ext cx="923544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0" y="3227832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C1C"/>
                </a:solidFill>
                <a:latin typeface="Calibri"/>
              </a:rPr>
              <a:t>Mind-set: dari masalah ke solusi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31920"/>
            <a:ext cx="1371600" cy="685800"/>
          </a:xfrm>
          <a:prstGeom prst="round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96511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30'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3931920"/>
            <a:ext cx="923544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4096511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C1C"/>
                </a:solidFill>
                <a:latin typeface="Calibri"/>
              </a:rPr>
              <a:t>Refleksi individu + berbagi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800600"/>
            <a:ext cx="1371600" cy="68580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96519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10'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0" y="4800600"/>
            <a:ext cx="923544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0" y="4965192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C1C"/>
                </a:solidFill>
                <a:latin typeface="Calibri"/>
              </a:rPr>
              <a:t>Ringkas &amp; tugas rumah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Bisnis Digital Sem 3 · Pertemuan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2C4C"/>
                </a:solidFill>
                <a:latin typeface="Calibri"/>
              </a:rPr>
              <a:t>Ice-breaking: 60 detik mengenal satu sama lain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Berpasangan dengan orang di samping Anda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642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4C"/>
                </a:solidFill>
                <a:latin typeface="Calibri"/>
              </a:rPr>
              <a:t>Sampaikan 3 hal singkat: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C1C1C"/>
                </a:solidFill>
                <a:latin typeface="Calibri"/>
              </a:rPr>
              <a:t>1. Nama &amp; asal kota/daerah.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1C1C"/>
                </a:solidFill>
                <a:latin typeface="Calibri"/>
              </a:rPr>
              <a:t>2. Satu aplikasi di HP yang paling sering Anda buka.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1C1C"/>
                </a:solidFill>
                <a:latin typeface="Calibri"/>
              </a:rPr>
              <a:t>3. Satu keluhan kecil minggu ini (boleh lucu, boleh serius).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1C1C"/>
                </a:solidFill>
                <a:latin typeface="Calibri"/>
              </a:rPr>
              <a:t>Tujuan: menyadari bahwa keluhan sehari-hari adalah bahan mentah ide usaha.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Bisnis Digital Sem 3 · Pertemuan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2C4C"/>
                </a:solidFill>
                <a:latin typeface="Calibri"/>
              </a:rPr>
              <a:t>Kenapa mata kuliah ini penting?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Untuk mahasiswa Bisnis Digital Semester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642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64592" cy="1280160"/>
          </a:xfrm>
          <a:prstGeom prst="rect">
            <a:avLst/>
          </a:prstGeom>
          <a:solidFill>
            <a:srgbClr val="D9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002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4C"/>
                </a:solidFill>
                <a:latin typeface="Calibri"/>
              </a:rPr>
              <a:t>Dunia kerja berubah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570"/>
                </a:solidFill>
                <a:latin typeface="Calibri"/>
              </a:rPr>
              <a:t>Banyak peluang lahir dari solusi digital untuk masalah nyata.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34640"/>
            <a:ext cx="110642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834640"/>
            <a:ext cx="164592" cy="1280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632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4C"/>
                </a:solidFill>
                <a:latin typeface="Calibri"/>
              </a:rPr>
              <a:t>Prodi Anda dekat dengan pasar digital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5204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570"/>
                </a:solidFill>
                <a:latin typeface="Calibri"/>
              </a:rPr>
              <a:t>Pelanggan, kanal online, dan pembayaran sudah jadi bagian hidup.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97680"/>
            <a:ext cx="110642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97680"/>
            <a:ext cx="164592" cy="1280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5262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4C"/>
                </a:solidFill>
                <a:latin typeface="Calibri"/>
              </a:rPr>
              <a:t>Belum harus jadi ahli coding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9834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570"/>
                </a:solidFill>
                <a:latin typeface="Calibri"/>
              </a:rPr>
              <a:t>Yang dipelajari dulu: berpikir jernih tentang orang yang dibantu.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Bisnis Digital Sem 3 · Pertemuan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2C4C"/>
                </a:solidFill>
                <a:latin typeface="Calibri"/>
              </a:rPr>
              <a:t>Apa itu technopreneurship?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Penjelasan sederhana untuk pemula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10332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F2C4C"/>
                </a:solidFill>
                <a:latin typeface="Calibri"/>
              </a:rPr>
              <a:t>Technopreneurship =
kewirausahaan yang memakai teknologi untuk menciptakan nilai.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383280"/>
            <a:ext cx="8503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C1C1C"/>
                </a:solidFill>
                <a:latin typeface="Calibri"/>
              </a:rPr>
              <a:t>• Bukan soal “wajib buat aplikasi rumit”.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C1C1C"/>
                </a:solidFill>
                <a:latin typeface="Calibri"/>
              </a:rPr>
              <a:t>• Bukan soal “langsung jadi perusahaan besar”.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C1C1C"/>
                </a:solidFill>
                <a:latin typeface="Calibri"/>
              </a:rPr>
              <a:t>• Melainkan: melihat masalah → merancang bantuan → memakai teknologi yang tepat.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Bisnis Digital Sem 3 · Pertemuan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2C4C"/>
                </a:solidFill>
                <a:latin typeface="Calibri"/>
              </a:rPr>
              <a:t>Kuliah ini BUKAN tentang…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Agar harapan kita realistis sejak hari pertama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9496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04A2F"/>
                </a:solidFill>
                <a:latin typeface="Calibri"/>
              </a:rPr>
              <a:t>Bukan fokus utama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C1C1C"/>
                </a:solidFill>
                <a:latin typeface="Calibri"/>
              </a:rPr>
              <a:t>• Harus langsung jadi unicorn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C1C1C"/>
                </a:solidFill>
                <a:latin typeface="Calibri"/>
              </a:rPr>
              <a:t>• Hafalan istilah bahasa mesin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C1C1C"/>
                </a:solidFill>
                <a:latin typeface="Calibri"/>
              </a:rPr>
              <a:t>• Kompetisi “ide paling keren”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C1C1C"/>
                </a:solidFill>
                <a:latin typeface="Calibri"/>
              </a:rPr>
              <a:t>• Menunggu modal besar dulu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94960" cy="4297680"/>
          </a:xfrm>
          <a:prstGeom prst="round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916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7B2A"/>
                </a:solidFill>
                <a:latin typeface="Calibri"/>
              </a:rPr>
              <a:t>Yang kita latih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• Melihat masalah orang dengan jernih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• Merancang solusi sederhana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• Menguji ide ke calon pengguna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• Menyusun model bisnis &amp; pitch singkat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Bisnis Digital Sem 3 · Pertemuan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2C4C"/>
                </a:solidFill>
                <a:latin typeface="Calibri"/>
              </a:rPr>
              <a:t>Apa yang akan kita hasilkan semester ini?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Output nyata—bukan hanya nilai ujian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61188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611880" cy="9144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Business Model Canvas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3154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Calibri"/>
              </a:rPr>
              <a:t>Satu halaman yang menjelaskan cara usaha Anda bekerja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63040"/>
            <a:ext cx="361188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3611880" cy="9144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645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Proposal singkat 5–8 hlm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43200"/>
            <a:ext cx="3154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Calibri"/>
              </a:rPr>
              <a:t>Cerita masalah, solusi, pengguna, dan cara dapat uang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63040"/>
            <a:ext cx="361188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63040"/>
            <a:ext cx="3611880" cy="9144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645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Pitch 5–7 menit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743200"/>
            <a:ext cx="3154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Calibri"/>
              </a:rPr>
              <a:t>Presentasi kelompok (3–4 orang) yang jelas dan manusiawi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Bisnis Digital Sem 3 · Pertemuan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2C4C"/>
                </a:solidFill>
                <a:latin typeface="Calibri"/>
              </a:rPr>
              <a:t>Kontrak belajar kita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Kesepakatan agar kelas aman untuk mencoba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914400" cy="685800"/>
          </a:xfrm>
          <a:prstGeom prst="roundRect">
            <a:avLst/>
          </a:prstGeom>
          <a:solidFill>
            <a:srgbClr val="D9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3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83080" y="1325880"/>
            <a:ext cx="969264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490472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Calibri"/>
              </a:rPr>
              <a:t>Datang tepat waktu dan aktif mengerjakan lembar kerja.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94560"/>
            <a:ext cx="914400" cy="68580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83080" y="2194560"/>
            <a:ext cx="969264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2359152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Calibri"/>
              </a:rPr>
              <a:t>Saat brainstorming, tidak ada ide yang “bodoh”.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63239"/>
            <a:ext cx="914400" cy="68580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0039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83080" y="3063239"/>
            <a:ext cx="969264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57400" y="3227832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Calibri"/>
              </a:rPr>
              <a:t>Kerja kelompok harus adil—semua ikut berpikir dan berbicara.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31920"/>
            <a:ext cx="914400" cy="68580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690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83080" y="3931920"/>
            <a:ext cx="969264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57400" y="4096511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Calibri"/>
              </a:rPr>
              <a:t>Hormati cerita teman: dengarkan dulu, baru beri usulan.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800600"/>
            <a:ext cx="914400" cy="68580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937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83080" y="4800600"/>
            <a:ext cx="969264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57400" y="4965192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Calibri"/>
              </a:rPr>
              <a:t>Proposal dikerjakan sendiri/kelompok Anda—bukan disalin.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Bisnis Digital Sem 3 · Pertemuan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2C4C"/>
                </a:solidFill>
                <a:latin typeface="Calibri"/>
              </a:rPr>
              <a:t>Mind-set utama: problem →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Usaha dimulai dari kepedulian, bukan dari “ingin jual apa”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64240" cy="1188720"/>
          </a:xfrm>
          <a:prstGeom prst="round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Jangan mulai dari aplikasi. Mulai dari orang yang kesulitan.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27432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C4C"/>
                </a:solidFill>
                <a:latin typeface="Calibri"/>
              </a:rPr>
              <a:t>1. Masalah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570"/>
                </a:solidFill>
                <a:latin typeface="Calibri"/>
              </a:rPr>
              <a:t>Ada keluhan yang berulang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926080"/>
            <a:ext cx="27432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32004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C4C"/>
                </a:solidFill>
                <a:latin typeface="Calibri"/>
              </a:rPr>
              <a:t>2. Orangnya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0233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570"/>
                </a:solidFill>
                <a:latin typeface="Calibri"/>
              </a:rPr>
              <a:t>Siapa yang merasakan?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2926080"/>
            <a:ext cx="27432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2004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C4C"/>
                </a:solidFill>
                <a:latin typeface="Calibri"/>
              </a:rPr>
              <a:t>3. Bantuan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0233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570"/>
                </a:solidFill>
                <a:latin typeface="Calibri"/>
              </a:rPr>
              <a:t>Apa yang bisa meredakan?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19" y="2926080"/>
            <a:ext cx="27432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599" y="32004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C4C"/>
                </a:solidFill>
                <a:latin typeface="Calibri"/>
              </a:rPr>
              <a:t>4. Teknologi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599" y="40233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570"/>
                </a:solidFill>
                <a:latin typeface="Calibri"/>
              </a:rPr>
              <a:t>Alat apa yang membantu?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Bisnis Digital Sem 3 · Pertemuan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2C4C"/>
                </a:solidFill>
                <a:latin typeface="Calibri"/>
              </a:rPr>
              <a:t>Analogi sederhana: memasak untuk tamu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Supaya urutannya mudah diingat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274320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17320" y="1920240"/>
            <a:ext cx="914400" cy="91440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1031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004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F2C4C"/>
                </a:solidFill>
                <a:latin typeface="Calibri"/>
              </a:rPr>
              <a:t>Tahu tamunya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148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570"/>
                </a:solidFill>
                <a:latin typeface="Calibri"/>
              </a:rPr>
              <a:t>Siapa pelanggan/pengguna?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554480"/>
            <a:ext cx="274320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1920240"/>
            <a:ext cx="914400" cy="91440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1031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2004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F2C4C"/>
                </a:solidFill>
                <a:latin typeface="Calibri"/>
              </a:rPr>
              <a:t>Pilih menu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41148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570"/>
                </a:solidFill>
                <a:latin typeface="Calibri"/>
              </a:rPr>
              <a:t>Produk/jasa apa yang membantu?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554480"/>
            <a:ext cx="274320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920240"/>
            <a:ext cx="914400" cy="91440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21031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2004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F2C4C"/>
                </a:solidFill>
                <a:latin typeface="Calibri"/>
              </a:rPr>
              <a:t>Uji rasa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1148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570"/>
                </a:solidFill>
                <a:latin typeface="Calibri"/>
              </a:rPr>
              <a:t>Coba dulu ke beberapa orang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1554480"/>
            <a:ext cx="274320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195560" y="1920240"/>
            <a:ext cx="914400" cy="91440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95560" y="21031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32004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F2C4C"/>
                </a:solidFill>
                <a:latin typeface="Calibri"/>
              </a:rPr>
              <a:t>Baru sajikan luas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41148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570"/>
                </a:solidFill>
                <a:latin typeface="Calibri"/>
              </a:rPr>
              <a:t>Setelah cocok, baru diperluas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Bisnis Digital Sem 3 · Pertemuan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2C4C"/>
                </a:solidFill>
                <a:latin typeface="Calibri"/>
              </a:rPr>
              <a:t>Contoh dekat kampus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Dari keluhan menjadi kemungkinan bantuan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642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C4C"/>
                </a:solidFill>
                <a:latin typeface="Calibri"/>
              </a:rPr>
              <a:t>Masalah: Antrian makan siang lama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570"/>
                </a:solidFill>
                <a:latin typeface="Calibri"/>
              </a:rPr>
              <a:t>Kemungkinan bantuan: Pre-order kantin lewat formulir/HP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34640"/>
            <a:ext cx="110642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C4C"/>
                </a:solidFill>
                <a:latin typeface="Calibri"/>
              </a:rPr>
              <a:t>Masalah: Ibu kos kesulitan catat bayar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2044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570"/>
                </a:solidFill>
                <a:latin typeface="Calibri"/>
              </a:rPr>
              <a:t>Kemungkinan bantuan: Formulir + pengingat WhatsApp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110642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8056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C4C"/>
                </a:solidFill>
                <a:latin typeface="Calibri"/>
              </a:rPr>
              <a:t>Masalah: UMKM tetangga tanpa katalog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98348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570"/>
                </a:solidFill>
                <a:latin typeface="Calibri"/>
              </a:rPr>
              <a:t>Kemungkinan bantuan: Mini toko online + foto produk sederhana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Bisnis Digital Sem 3 · Pertemuan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2C4C"/>
                </a:solidFill>
                <a:latin typeface="Calibri"/>
              </a:rPr>
              <a:t>Rumus sederhana ide yang layak digarap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Bisa Anda pakai mulai hari ini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645920"/>
            <a:ext cx="9966960" cy="3840480"/>
          </a:xfrm>
          <a:prstGeom prst="round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377440"/>
            <a:ext cx="8869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Ide bagus =
masalah nyata + orang jelas + bantuan yang bisa diuji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114800"/>
            <a:ext cx="8869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6EEF2"/>
                </a:solidFill>
                <a:latin typeface="Calibri"/>
              </a:rPr>
              <a:t>Kalau salah satu hilang, ide biasanya masih kabur.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Bisnis Digital Sem 3 · Pertemuan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2C4C"/>
                </a:solidFill>
                <a:latin typeface="Calibri"/>
              </a:rPr>
              <a:t>Aktivitas: lembar refleksi individu (±30 menit)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Kerjakan dengan jujur—ini bahan mentah ide Anda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914400" cy="82296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27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83080" y="1325880"/>
            <a:ext cx="96926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1508760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Calibri"/>
              </a:rPr>
              <a:t>Tuliskan 5 keluhan/masalah yang Anda atau orang sekitar alami minggu ini.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23160"/>
            <a:ext cx="914400" cy="82296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2432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83080" y="2423160"/>
            <a:ext cx="96926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2606040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Calibri"/>
              </a:rPr>
              <a:t>Lingkari 3 masalah yang paling sering terjadi.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20439"/>
            <a:ext cx="914400" cy="82296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21607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83080" y="3520439"/>
            <a:ext cx="96926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3703320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Calibri"/>
              </a:rPr>
              <a:t>Pilih 1 masalah, jawab: siapa yang mengalami? seberapa menyakitkan (1–5)? bisakah dibantu solusi digital?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17720"/>
            <a:ext cx="914400" cy="82296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83080" y="4617720"/>
            <a:ext cx="96926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4800600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Calibri"/>
              </a:rPr>
              <a:t>4–5 orang berbagi 1 masalah ke kelas. Kita dengarkan dulu—belum menilai ide.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Bisnis Digital Sem 3 · Pertemuan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2C4C"/>
                </a:solidFill>
                <a:latin typeface="Calibri"/>
              </a:rPr>
              <a:t>Penilaian hari ini &amp; ringkasan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Kecil tapi penting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9496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6B6B"/>
                </a:solidFill>
                <a:latin typeface="Calibri"/>
              </a:rPr>
              <a:t>Dinilai dari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C1C1C"/>
                </a:solidFill>
                <a:latin typeface="Calibri"/>
              </a:rPr>
              <a:t>• Kehadiran &amp; keaktifan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C1C1C"/>
                </a:solidFill>
                <a:latin typeface="Calibri"/>
              </a:rPr>
              <a:t>• Kelengkapan lembar refleksi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C1C1C"/>
                </a:solidFill>
                <a:latin typeface="Calibri"/>
              </a:rPr>
              <a:t>• Kesediaan berbagi &amp; mendengarkan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94960" cy="4297680"/>
          </a:xfrm>
          <a:prstGeom prst="round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916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7B2A"/>
                </a:solidFill>
                <a:latin typeface="Calibri"/>
              </a:rPr>
              <a:t>Yang dibawa pulang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• Technopreneurship = usaha + teknologi untuk nilai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• Mulai dari masalah, bukan aplikasi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• Ide bagus butuh orang yang jelas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Bisnis Digital Sem 3 · Pertemuan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2C4C"/>
                </a:solidFill>
                <a:latin typeface="Calibri"/>
              </a:rPr>
              <a:t>Tugas rumah &amp; penutup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Langkah kecil menuju pertemuan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6424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97B2A"/>
                </a:solidFill>
                <a:latin typeface="Calibri"/>
              </a:rPr>
              <a:t>Tugas: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C1C1C"/>
                </a:solidFill>
                <a:latin typeface="Calibri"/>
              </a:rPr>
              <a:t>1. Baca bagian awal buku Sulistyandari (fondasi technopreneurship).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C1C1C"/>
                </a:solidFill>
                <a:latin typeface="Calibri"/>
              </a:rPr>
              <a:t>2. Bawa 3 masalah terpilih ke pertemuan berikutnya.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23360"/>
            <a:ext cx="11064240" cy="1645920"/>
          </a:xfrm>
          <a:prstGeom prst="round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348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Minggu ini jangan cari ide yang “keren”.
Cari dulu masalah yang nyata.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Bisnis Digital Sem 3 · Pertemuan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