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1A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394960"/>
            <a:ext cx="12191695" cy="1463040"/>
          </a:xfrm>
          <a:prstGeom prst="rect">
            <a:avLst/>
          </a:prstGeom>
          <a:solidFill>
            <a:srgbClr val="0B2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D97B2A"/>
                </a:solidFill>
                <a:latin typeface="Calibri"/>
              </a:rPr>
              <a:t>TECHNOPRENEURSHIP — TEKNOLOGI UNTUK MANUSIA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828800"/>
            <a:ext cx="10515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Calibri"/>
              </a:rPr>
              <a:t>Teknologi dalam Bisnis:
Platform, Pembayaran Digital, AI, dan IoT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02336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E6EEF2"/>
                </a:solidFill>
                <a:latin typeface="Calibri"/>
              </a:rPr>
              <a:t>Dipahami dengan bahasa sehari-hari · Siap dipilih untuk ide Anda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66928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E6EEF2"/>
                </a:solidFill>
                <a:latin typeface="Calibri"/>
              </a:rPr>
              <a:t>S1 Bisnis Digital Semester 3 · Sub-CPMK 1.2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1A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0F2C4C"/>
                </a:solidFill>
                <a:latin typeface="Calibri"/>
              </a:rPr>
              <a:t>Hari ini kita belajar memilih, bukan menghafal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229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A6570"/>
                </a:solidFill>
                <a:latin typeface="Calibri"/>
              </a:rPr>
              <a:t>Teknologi ada untuk menolong orang—bukan untuk membingungkan mahasiswa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371600"/>
            <a:ext cx="11064240" cy="43891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691640"/>
            <a:ext cx="10332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F2C4C"/>
                </a:solidFill>
                <a:latin typeface="Calibri"/>
              </a:rPr>
              <a:t>Setelah pertemuan ini, Anda bisa: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286000"/>
            <a:ext cx="1033272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>
                <a:solidFill>
                  <a:srgbClr val="1C1C1C"/>
                </a:solidFill>
                <a:latin typeface="Calibri"/>
              </a:rPr>
              <a:t>1. Menjelaskan empat jenis teknologi dengan contoh dari HP Anda sendiri.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1C1C1C"/>
                </a:solidFill>
                <a:latin typeface="Calibri"/>
              </a:rPr>
              <a:t>2. Menjelaskan peran masing-masing dalam menolong pelanggan.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1C1C1C"/>
                </a:solidFill>
                <a:latin typeface="Calibri"/>
              </a:rPr>
              <a:t>3. Memilih teknologi yang cocok untuk sebuah masalah—bukan karena “lagi hits”.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1C1C1C"/>
                </a:solidFill>
                <a:latin typeface="Calibri"/>
              </a:rPr>
              <a:t/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1C1C1C"/>
                </a:solidFill>
                <a:latin typeface="Calibri"/>
              </a:rPr>
              <a:t>Kita tidak sedang jadi teknisi. Kita sedang jadi pemikir usaha yang waras.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4652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A6570"/>
                </a:solidFill>
                <a:latin typeface="Calibri"/>
              </a:rPr>
              <a:t>Technopreneurship · Bisnis Digital Sem 3 · Sub-CPMK 1.2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6446520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5A6570"/>
                </a:solidFill>
                <a:latin typeface="Calibri"/>
              </a:rPr>
              <a:t>2/18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1A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0F2C4C"/>
                </a:solidFill>
                <a:latin typeface="Calibri"/>
              </a:rPr>
              <a:t>Alur belajar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229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A6570"/>
                </a:solidFill>
                <a:latin typeface="Calibri"/>
              </a:rPr>
              <a:t>Dari yang sudah Anda pakai → ke cara memilih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325880"/>
            <a:ext cx="1005840" cy="502920"/>
          </a:xfrm>
          <a:prstGeom prst="roundRect">
            <a:avLst/>
          </a:prstGeom>
          <a:solidFill>
            <a:srgbClr val="1A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399032"/>
            <a:ext cx="1005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01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828800" y="1325880"/>
            <a:ext cx="9601200" cy="5029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57400" y="141732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C1C1C"/>
                </a:solidFill>
                <a:latin typeface="Calibri"/>
              </a:rPr>
              <a:t>Buka HP: aplikasi apa yang sering dipakai?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057400"/>
            <a:ext cx="1005840" cy="502920"/>
          </a:xfrm>
          <a:prstGeom prst="roundRect">
            <a:avLst/>
          </a:prstGeom>
          <a:solidFill>
            <a:srgbClr val="0F2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130552"/>
            <a:ext cx="1005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02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828800" y="2057400"/>
            <a:ext cx="9601200" cy="5029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57400" y="21488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C1C1C"/>
                </a:solidFill>
                <a:latin typeface="Calibri"/>
              </a:rPr>
              <a:t>Platform: mempertemukan orang dengan orang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2788920"/>
            <a:ext cx="1005840" cy="502920"/>
          </a:xfrm>
          <a:prstGeom prst="roundRect">
            <a:avLst/>
          </a:prstGeom>
          <a:solidFill>
            <a:srgbClr val="1A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2862072"/>
            <a:ext cx="1005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03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828800" y="2788920"/>
            <a:ext cx="9601200" cy="5029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057400" y="288036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C1C1C"/>
                </a:solidFill>
                <a:latin typeface="Calibri"/>
              </a:rPr>
              <a:t>Pembayaran digital: biar transaksi lebih mudah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3520440"/>
            <a:ext cx="1005840" cy="502920"/>
          </a:xfrm>
          <a:prstGeom prst="roundRect">
            <a:avLst/>
          </a:prstGeom>
          <a:solidFill>
            <a:srgbClr val="0F2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3593592"/>
            <a:ext cx="1005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04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828800" y="3520440"/>
            <a:ext cx="9601200" cy="5029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057400" y="36118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C1C1C"/>
                </a:solidFill>
                <a:latin typeface="Calibri"/>
              </a:rPr>
              <a:t>AI: membantu kerja berulang &amp; rekomendasi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4251960"/>
            <a:ext cx="1005840" cy="502920"/>
          </a:xfrm>
          <a:prstGeom prst="roundRect">
            <a:avLst/>
          </a:prstGeom>
          <a:solidFill>
            <a:srgbClr val="1A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4325112"/>
            <a:ext cx="1005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05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828800" y="4251960"/>
            <a:ext cx="9601200" cy="5029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057400" y="434340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C1C1C"/>
                </a:solidFill>
                <a:latin typeface="Calibri"/>
              </a:rPr>
              <a:t>IoT: benda nyata yang “ngomong” lewat data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0080" y="4983480"/>
            <a:ext cx="1005840" cy="502920"/>
          </a:xfrm>
          <a:prstGeom prst="roundRect">
            <a:avLst/>
          </a:prstGeom>
          <a:solidFill>
            <a:srgbClr val="0F2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" y="5056632"/>
            <a:ext cx="1005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06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828800" y="4983480"/>
            <a:ext cx="9601200" cy="5029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057400" y="507492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C1C1C"/>
                </a:solidFill>
                <a:latin typeface="Calibri"/>
              </a:rPr>
              <a:t>Latihan pilih teknologi untuk 1 masalah nyata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644652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A6570"/>
                </a:solidFill>
                <a:latin typeface="Calibri"/>
              </a:rPr>
              <a:t>Technopreneurship · Bisnis Digital Sem 3 · Sub-CPMK 1.2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241280" y="6446520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5A6570"/>
                </a:solidFill>
                <a:latin typeface="Calibri"/>
              </a:rPr>
              <a:t>3/18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1A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0F2C4C"/>
                </a:solidFill>
                <a:latin typeface="Calibri"/>
              </a:rPr>
              <a:t>Pemantik: Anda sudah hidup bersama teknologi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229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A6570"/>
                </a:solidFill>
                <a:latin typeface="Calibri"/>
              </a:rPr>
              <a:t>Mari kelompokkan bersama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371600"/>
            <a:ext cx="11064240" cy="1097280"/>
          </a:xfrm>
          <a:prstGeom prst="roundRect">
            <a:avLst/>
          </a:prstGeom>
          <a:solidFill>
            <a:srgbClr val="0F2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600200"/>
            <a:ext cx="104241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Calibri"/>
              </a:rPr>
              <a:t>Sebutkan aplikasi yang paling sering Anda buka minggu ini. Lalu masukkan ke kotak yang cocok.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834640"/>
            <a:ext cx="2148840" cy="25603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3108960"/>
            <a:ext cx="187451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F2C4C"/>
                </a:solidFill>
                <a:latin typeface="Calibri"/>
              </a:rPr>
              <a:t>Bepergian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931920"/>
            <a:ext cx="1874519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A6570"/>
                </a:solidFill>
                <a:latin typeface="Calibri"/>
              </a:rPr>
              <a:t>Ojek, peta, tiket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834640" y="2834640"/>
            <a:ext cx="2148840" cy="25603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971800" y="3108960"/>
            <a:ext cx="187451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F2C4C"/>
                </a:solidFill>
                <a:latin typeface="Calibri"/>
              </a:rPr>
              <a:t>Belanja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71800" y="3931920"/>
            <a:ext cx="1874519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A6570"/>
                </a:solidFill>
                <a:latin typeface="Calibri"/>
              </a:rPr>
              <a:t>Marketplace, toko online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120640" y="2834640"/>
            <a:ext cx="2148840" cy="25603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257800" y="3108960"/>
            <a:ext cx="187451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F2C4C"/>
                </a:solidFill>
                <a:latin typeface="Calibri"/>
              </a:rPr>
              <a:t>Bayar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57800" y="3931920"/>
            <a:ext cx="1874519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A6570"/>
                </a:solidFill>
                <a:latin typeface="Calibri"/>
              </a:rPr>
              <a:t>E-wallet, QRIS, transfer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406640" y="2834640"/>
            <a:ext cx="2148840" cy="25603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543800" y="3108960"/>
            <a:ext cx="187451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F2C4C"/>
                </a:solidFill>
                <a:latin typeface="Calibri"/>
              </a:rPr>
              <a:t>Hiburan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543800" y="3931920"/>
            <a:ext cx="1874519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A6570"/>
                </a:solidFill>
                <a:latin typeface="Calibri"/>
              </a:rPr>
              <a:t>Video, media sosial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692640" y="2834640"/>
            <a:ext cx="2148840" cy="25603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829800" y="3108960"/>
            <a:ext cx="187451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F2C4C"/>
                </a:solidFill>
                <a:latin typeface="Calibri"/>
              </a:rPr>
              <a:t>Belajar/kerja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829800" y="3931920"/>
            <a:ext cx="1874519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A6570"/>
                </a:solidFill>
                <a:latin typeface="Calibri"/>
              </a:rPr>
              <a:t>Catatan, chat, drive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644652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A6570"/>
                </a:solidFill>
                <a:latin typeface="Calibri"/>
              </a:rPr>
              <a:t>Technopreneurship · Bisnis Digital Sem 3 · Sub-CPMK 1.2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41280" y="6446520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5A6570"/>
                </a:solidFill>
                <a:latin typeface="Calibri"/>
              </a:rPr>
              <a:t>4/18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1A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0F2C4C"/>
                </a:solidFill>
                <a:latin typeface="Calibri"/>
              </a:rPr>
              <a:t>Prinsip yang menenangkan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229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A6570"/>
                </a:solidFill>
                <a:latin typeface="Calibri"/>
              </a:rPr>
              <a:t>Teknologi adalah alat bantu manusia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97280" y="1554480"/>
            <a:ext cx="9966960" cy="40233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45920" y="2103120"/>
            <a:ext cx="8869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0F2C4C"/>
                </a:solidFill>
                <a:latin typeface="Calibri"/>
              </a:rPr>
              <a:t>Kita tidak wajib memakai teknologi canggih.
Kita wajib menolong orang dengan cara yang masuk akal.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94560" y="3657600"/>
            <a:ext cx="7955279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>
                <a:solidFill>
                  <a:srgbClr val="1C1C1C"/>
                </a:solidFill>
                <a:latin typeface="Calibri"/>
              </a:rPr>
              <a:t>• Utamakan pemahaman pada orang yang dibantu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1C1C1C"/>
                </a:solidFill>
                <a:latin typeface="Calibri"/>
              </a:rPr>
              <a:t>• Baru pilih alat yang paling sederhana namun cukup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1C1C1C"/>
                </a:solidFill>
                <a:latin typeface="Calibri"/>
              </a:rPr>
              <a:t>• Jangan pilih AI hanya karena terdengar modern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4652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A6570"/>
                </a:solidFill>
                <a:latin typeface="Calibri"/>
              </a:rPr>
              <a:t>Technopreneurship · Bisnis Digital Sem 3 · Sub-CPMK 1.2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6446520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5A6570"/>
                </a:solidFill>
                <a:latin typeface="Calibri"/>
              </a:rPr>
              <a:t>5/18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1A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0F2C4C"/>
                </a:solidFill>
                <a:latin typeface="Calibri"/>
              </a:rPr>
              <a:t>1. Platform: tempat orang bertemu orang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229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A6570"/>
                </a:solidFill>
                <a:latin typeface="Calibri"/>
              </a:rPr>
              <a:t>Seperti pasar, tapi bisa digenggam di HP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325880"/>
            <a:ext cx="11064240" cy="13716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55448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1C1C1C"/>
                </a:solidFill>
                <a:latin typeface="Calibri"/>
              </a:rPr>
              <a:t>Platform mempertemukan dua pihak yang saling membutuhkan: penjual dengan pembeli, driver dengan penumpang, pemilik kos dengan pencari kos.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017520"/>
            <a:ext cx="3611880" cy="24688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3291840"/>
            <a:ext cx="3154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0F2C4C"/>
                </a:solidFill>
                <a:latin typeface="Calibri"/>
              </a:rPr>
              <a:t>Nilainya apa?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931920"/>
            <a:ext cx="31546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5A6570"/>
                </a:solidFill>
                <a:latin typeface="Calibri"/>
              </a:rPr>
              <a:t>Semakin banyak orang datang, semakin ramai dan berguna.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43400" y="3017520"/>
            <a:ext cx="3611880" cy="24688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0" y="3291840"/>
            <a:ext cx="3154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0F2C4C"/>
                </a:solidFill>
                <a:latin typeface="Calibri"/>
              </a:rPr>
              <a:t>Contoh yang familiar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3931920"/>
            <a:ext cx="31546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5A6570"/>
                </a:solidFill>
                <a:latin typeface="Calibri"/>
              </a:rPr>
              <a:t>Gojek, Tokopedia, booking tempat.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38160" y="3017520"/>
            <a:ext cx="3611880" cy="24688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66760" y="3291840"/>
            <a:ext cx="3154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0F2C4C"/>
                </a:solidFill>
                <a:latin typeface="Calibri"/>
              </a:rPr>
              <a:t>Tanya untuk ide Anda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66760" y="3931920"/>
            <a:ext cx="31546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5A6570"/>
                </a:solidFill>
                <a:latin typeface="Calibri"/>
              </a:rPr>
              <a:t>Apakah ide saya perlu mempertemukan dua sisi?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44652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A6570"/>
                </a:solidFill>
                <a:latin typeface="Calibri"/>
              </a:rPr>
              <a:t>Technopreneurship · Bisnis Digital Sem 3 · Sub-CPMK 1.2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41280" y="6446520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5A6570"/>
                </a:solidFill>
                <a:latin typeface="Calibri"/>
              </a:rPr>
              <a:t>6/18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1A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0F2C4C"/>
                </a:solidFill>
                <a:latin typeface="Calibri"/>
              </a:rPr>
              <a:t>Kenapa platform besar terasa “susah diganti”?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229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A6570"/>
                </a:solidFill>
                <a:latin typeface="Calibri"/>
              </a:rPr>
              <a:t>Karena orang ikut orang—secara sederhana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417320"/>
            <a:ext cx="11064240" cy="42976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14400" y="1691640"/>
            <a:ext cx="640080" cy="640080"/>
          </a:xfrm>
          <a:prstGeom prst="roundRect">
            <a:avLst/>
          </a:prstGeom>
          <a:solidFill>
            <a:srgbClr val="D97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828800"/>
            <a:ext cx="640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1737360"/>
            <a:ext cx="8961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0F2C4C"/>
                </a:solidFill>
                <a:latin typeface="Calibri"/>
              </a:rPr>
              <a:t>Masih sepi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2057400"/>
            <a:ext cx="8961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A6570"/>
                </a:solidFill>
                <a:latin typeface="Calibri"/>
              </a:rPr>
              <a:t>Sedikit orang → sedikit manfaat.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14400" y="2606040"/>
            <a:ext cx="640080" cy="640080"/>
          </a:xfrm>
          <a:prstGeom prst="roundRect">
            <a:avLst/>
          </a:prstGeom>
          <a:solidFill>
            <a:srgbClr val="1A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2743200"/>
            <a:ext cx="640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2651760"/>
            <a:ext cx="8961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0F2C4C"/>
                </a:solidFill>
                <a:latin typeface="Calibri"/>
              </a:rPr>
              <a:t>Mulai ramai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2971800"/>
            <a:ext cx="8961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A6570"/>
                </a:solidFill>
                <a:latin typeface="Calibri"/>
              </a:rPr>
              <a:t>Penjual datang karena ada pembeli; pembeli datang karena ada pilihan.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4400" y="3520440"/>
            <a:ext cx="640080" cy="640080"/>
          </a:xfrm>
          <a:prstGeom prst="roundRect">
            <a:avLst/>
          </a:prstGeom>
          <a:solidFill>
            <a:srgbClr val="1A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3657600"/>
            <a:ext cx="640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3566160"/>
            <a:ext cx="8961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0F2C4C"/>
                </a:solidFill>
                <a:latin typeface="Calibri"/>
              </a:rPr>
              <a:t>Semakin berguna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3886200"/>
            <a:ext cx="8961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A6570"/>
                </a:solidFill>
                <a:latin typeface="Calibri"/>
              </a:rPr>
              <a:t>Transaksi lebih cepat, pilihan lebih banyak.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14400" y="4434840"/>
            <a:ext cx="640080" cy="640080"/>
          </a:xfrm>
          <a:prstGeom prst="roundRect">
            <a:avLst/>
          </a:prstGeom>
          <a:solidFill>
            <a:srgbClr val="1A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4572000"/>
            <a:ext cx="640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28800" y="4480559"/>
            <a:ext cx="8961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0F2C4C"/>
                </a:solidFill>
                <a:latin typeface="Calibri"/>
              </a:rPr>
              <a:t>Semakin dipercaya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28800" y="4800600"/>
            <a:ext cx="8961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A6570"/>
                </a:solidFill>
                <a:latin typeface="Calibri"/>
              </a:rPr>
              <a:t>Orang baru ikut karena banyak yang sudah pakai.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644652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A6570"/>
                </a:solidFill>
                <a:latin typeface="Calibri"/>
              </a:rPr>
              <a:t>Technopreneurship · Bisnis Digital Sem 3 · Sub-CPMK 1.2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41280" y="6446520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5A6570"/>
                </a:solidFill>
                <a:latin typeface="Calibri"/>
              </a:rPr>
              <a:t>7/18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1A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0F2C4C"/>
                </a:solidFill>
                <a:latin typeface="Calibri"/>
              </a:rPr>
              <a:t>2. Pembayaran digital (fintech)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229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A6570"/>
                </a:solidFill>
                <a:latin typeface="Calibri"/>
              </a:rPr>
              <a:t>Biar orang lebih mudah bayar—dan Anda lebih mudah catat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325880"/>
            <a:ext cx="11064240" cy="12801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55448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C1C1C"/>
                </a:solidFill>
                <a:latin typeface="Calibri"/>
              </a:rPr>
              <a:t>Fintech = teknologi yang membantu urusan uang: bayar, transfer, e-wallet, QRIS, dan pencatatan.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926080"/>
            <a:ext cx="2743200" cy="25603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3200400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F2C4C"/>
                </a:solidFill>
                <a:latin typeface="Calibri"/>
              </a:rPr>
              <a:t>Bayar cepat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023360"/>
            <a:ext cx="23774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A6570"/>
                </a:solidFill>
                <a:latin typeface="Calibri"/>
              </a:rPr>
              <a:t>QRIS, e-wallet, transfer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29000" y="2926080"/>
            <a:ext cx="2743200" cy="25603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11880" y="3200400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F2C4C"/>
                </a:solidFill>
                <a:latin typeface="Calibri"/>
              </a:rPr>
              <a:t>Kurangi antre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11880" y="4023360"/>
            <a:ext cx="23774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A6570"/>
                </a:solidFill>
                <a:latin typeface="Calibri"/>
              </a:rPr>
              <a:t>Tidak selalu harus tunai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9359" y="2926080"/>
            <a:ext cx="2743200" cy="25603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92240" y="3200400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F2C4C"/>
                </a:solidFill>
                <a:latin typeface="Calibri"/>
              </a:rPr>
              <a:t>Catatan lebih rapi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4023360"/>
            <a:ext cx="23774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A6570"/>
                </a:solidFill>
                <a:latin typeface="Calibri"/>
              </a:rPr>
              <a:t>Riwayat transaksi terbantu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189719" y="2926080"/>
            <a:ext cx="2743200" cy="25603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372599" y="3200400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F2C4C"/>
                </a:solidFill>
                <a:latin typeface="Calibri"/>
              </a:rPr>
              <a:t>Kepercayaan naik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72599" y="4023360"/>
            <a:ext cx="23774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A6570"/>
                </a:solidFill>
                <a:latin typeface="Calibri"/>
              </a:rPr>
              <a:t>Proses bayar terasa aman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644652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A6570"/>
                </a:solidFill>
                <a:latin typeface="Calibri"/>
              </a:rPr>
              <a:t>Technopreneurship · Bisnis Digital Sem 3 · Sub-CPMK 1.2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41280" y="6446520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5A6570"/>
                </a:solidFill>
                <a:latin typeface="Calibri"/>
              </a:rPr>
              <a:t>8/18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1A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0F2C4C"/>
                </a:solidFill>
                <a:latin typeface="Calibri"/>
              </a:rPr>
              <a:t>Bayangkan dua suasana toko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229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A6570"/>
                </a:solidFill>
                <a:latin typeface="Calibri"/>
              </a:rPr>
              <a:t>Mana yang lebih menenangkan pelanggan?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371600"/>
            <a:ext cx="5394960" cy="42976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37360"/>
            <a:ext cx="47548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>
                <a:solidFill>
                  <a:srgbClr val="1C1C1C"/>
                </a:solidFill>
                <a:latin typeface="Calibri"/>
              </a:rPr>
              <a:t>Kalau pembayaran ribet: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1C1C1C"/>
                </a:solidFill>
                <a:latin typeface="Calibri"/>
              </a:rPr>
              <a:t>• Harus cari uang pas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1C1C1C"/>
                </a:solidFill>
                <a:latin typeface="Calibri"/>
              </a:rPr>
              <a:t>• Catatan omzet berantakan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1C1C1C"/>
                </a:solidFill>
                <a:latin typeface="Calibri"/>
              </a:rPr>
              <a:t>• Pelanggan ragu menyelesaikan beli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1C1C1C"/>
                </a:solidFill>
                <a:latin typeface="Calibri"/>
              </a:rPr>
              <a:t/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1C1C1C"/>
                </a:solidFill>
                <a:latin typeface="Calibri"/>
              </a:rPr>
              <a:t>Orang merasa dihambat.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371600"/>
            <a:ext cx="5394960" cy="4297680"/>
          </a:xfrm>
          <a:prstGeom prst="roundRect">
            <a:avLst/>
          </a:prstGeom>
          <a:solidFill>
            <a:srgbClr val="0F2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0" y="1737360"/>
            <a:ext cx="47548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>
                <a:solidFill>
                  <a:srgbClr val="FFFFFF"/>
                </a:solidFill>
                <a:latin typeface="Calibri"/>
              </a:rPr>
              <a:t>Kalau pembayaran mudah: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FFFFFF"/>
                </a:solidFill>
                <a:latin typeface="Calibri"/>
              </a:rPr>
              <a:t>• Scan &amp; selesai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FFFFFF"/>
                </a:solidFill>
                <a:latin typeface="Calibri"/>
              </a:rPr>
              <a:t>• Riwayat lebih jelas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FFFFFF"/>
                </a:solidFill>
                <a:latin typeface="Calibri"/>
              </a:rPr>
              <a:t>• Pelanggan lebih tenang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FFFFFF"/>
                </a:solidFill>
                <a:latin typeface="Calibri"/>
              </a:rPr>
              <a:t/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FFFFFF"/>
                </a:solidFill>
                <a:latin typeface="Calibri"/>
              </a:rPr>
              <a:t>Orang merasa ditolong.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4652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A6570"/>
                </a:solidFill>
                <a:latin typeface="Calibri"/>
              </a:rPr>
              <a:t>Technopreneurship · Bisnis Digital Sem 3 · Sub-CPMK 1.2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80" y="6446520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5A6570"/>
                </a:solidFill>
                <a:latin typeface="Calibri"/>
              </a:rPr>
              <a:t>9/18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1A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0F2C4C"/>
                </a:solidFill>
                <a:latin typeface="Calibri"/>
              </a:rPr>
              <a:t>3. AI untuk pemula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229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A6570"/>
                </a:solidFill>
                <a:latin typeface="Calibri"/>
              </a:rPr>
              <a:t>Bayangkan asisten yang membantu kerja berulang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325880"/>
            <a:ext cx="11064240" cy="12801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55448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1C1C1C"/>
                </a:solidFill>
                <a:latin typeface="Calibri"/>
              </a:rPr>
              <a:t>AI (kecerdasan buatan) membantu komputer mengenali pola, memberi saran, atau mengerjakan tugas yang berulang.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926080"/>
            <a:ext cx="3611880" cy="25603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2926080"/>
            <a:ext cx="3611880" cy="777240"/>
          </a:xfrm>
          <a:prstGeom prst="rect">
            <a:avLst/>
          </a:prstGeom>
          <a:solidFill>
            <a:srgbClr val="1A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3063240"/>
            <a:ext cx="3200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Chat otomatis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931920"/>
            <a:ext cx="31546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C1C1C"/>
                </a:solidFill>
                <a:latin typeface="Calibri"/>
              </a:rPr>
              <a:t>Menjawab pertanyaan yang sama berulang kali, misalnya jam buka &amp; harga.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43400" y="2926080"/>
            <a:ext cx="3611880" cy="25603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43400" y="2926080"/>
            <a:ext cx="3611880" cy="777240"/>
          </a:xfrm>
          <a:prstGeom prst="rect">
            <a:avLst/>
          </a:prstGeom>
          <a:solidFill>
            <a:srgbClr val="1A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26280" y="3063240"/>
            <a:ext cx="3200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Saran produk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3931920"/>
            <a:ext cx="31546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C1C1C"/>
                </a:solidFill>
                <a:latin typeface="Calibri"/>
              </a:rPr>
              <a:t>“Orang yang beli A sering juga lihat B.”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38160" y="2926080"/>
            <a:ext cx="3611880" cy="25603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38160" y="2926080"/>
            <a:ext cx="3611880" cy="777240"/>
          </a:xfrm>
          <a:prstGeom prst="rect">
            <a:avLst/>
          </a:prstGeom>
          <a:solidFill>
            <a:srgbClr val="1A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21040" y="3063240"/>
            <a:ext cx="3200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Tanda bahaya transaksi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66760" y="3931920"/>
            <a:ext cx="31546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C1C1C"/>
                </a:solidFill>
                <a:latin typeface="Calibri"/>
              </a:rPr>
              <a:t>Membantu menandai hal yang terasa janggal untuk dicek manusia.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644652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A6570"/>
                </a:solidFill>
                <a:latin typeface="Calibri"/>
              </a:rPr>
              <a:t>Technopreneurship · Bisnis Digital Sem 3 · Sub-CPMK 1.2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41280" y="6446520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5A6570"/>
                </a:solidFill>
                <a:latin typeface="Calibri"/>
              </a:rPr>
              <a:t>10/18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1A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0F2C4C"/>
                </a:solidFill>
                <a:latin typeface="Calibri"/>
              </a:rPr>
              <a:t>Jeda penting sebelum bilang “pakai AI”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229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A6570"/>
                </a:solidFill>
                <a:latin typeface="Calibri"/>
              </a:rPr>
              <a:t>Tiga pertanyaan manusiawi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1554480"/>
            <a:ext cx="10332720" cy="4114800"/>
          </a:xfrm>
          <a:prstGeom prst="roundRect">
            <a:avLst/>
          </a:prstGeom>
          <a:solidFill>
            <a:srgbClr val="0F2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463040" y="1965960"/>
            <a:ext cx="9235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D97B2A"/>
                </a:solidFill>
                <a:latin typeface="Calibri"/>
              </a:rPr>
              <a:t>Tanyakan pada diri sendiri: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2651760"/>
            <a:ext cx="813816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FFFFFF"/>
                </a:solidFill>
                <a:latin typeface="Calibri"/>
              </a:rPr>
              <a:t>1. Orang mana yang sedang kita tolong?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FFFFFF"/>
                </a:solidFill>
                <a:latin typeface="Calibri"/>
              </a:rPr>
              <a:t>2. Apakah ada cara yang lebih sederhana dulu?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FFFFFF"/>
                </a:solidFill>
                <a:latin typeface="Calibri"/>
              </a:rPr>
              <a:t>3. Apakah catatan/proses kita sudah rapi?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FFFFFF"/>
                </a:solidFill>
                <a:latin typeface="Calibri"/>
              </a:rPr>
              <a:t/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FFFFFF"/>
                </a:solidFill>
                <a:latin typeface="Calibri"/>
              </a:rPr>
              <a:t>Seringkali chat WhatsApp + formulir + spreadsheet sudah cukup di awal.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4652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A6570"/>
                </a:solidFill>
                <a:latin typeface="Calibri"/>
              </a:rPr>
              <a:t>Technopreneurship · Bisnis Digital Sem 3 · Sub-CPMK 1.2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6446520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5A6570"/>
                </a:solidFill>
                <a:latin typeface="Calibri"/>
              </a:rPr>
              <a:t>11/18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1A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0F2C4C"/>
                </a:solidFill>
                <a:latin typeface="Calibri"/>
              </a:rPr>
              <a:t>4. IoT untuk pemula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229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A6570"/>
                </a:solidFill>
                <a:latin typeface="Calibri"/>
              </a:rPr>
              <a:t>Benda sehari-hari yang bisa “memberi kabar”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325880"/>
            <a:ext cx="11064240" cy="12801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55448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1C1C1C"/>
                </a:solidFill>
                <a:latin typeface="Calibri"/>
              </a:rPr>
              <a:t>IoT artinya perangkat fisik (sensor, alat, mesin) terhubung internet dan mengirim informasi agar kita bisa memantau dari jauh.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926080"/>
            <a:ext cx="3611880" cy="25603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2926080"/>
            <a:ext cx="3611880" cy="777240"/>
          </a:xfrm>
          <a:prstGeom prst="rect">
            <a:avLst/>
          </a:prstGeom>
          <a:solidFill>
            <a:srgbClr val="0F2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3063240"/>
            <a:ext cx="3200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Sensor suhu/stok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931920"/>
            <a:ext cx="31546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C1C1C"/>
                </a:solidFill>
                <a:latin typeface="Calibri"/>
              </a:rPr>
              <a:t>Tahu kondisi gudang tanpa harus bolak-balik memeriksa.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43400" y="2926080"/>
            <a:ext cx="3611880" cy="25603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43400" y="2926080"/>
            <a:ext cx="3611880" cy="777240"/>
          </a:xfrm>
          <a:prstGeom prst="rect">
            <a:avLst/>
          </a:prstGeom>
          <a:solidFill>
            <a:srgbClr val="0F2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26280" y="3063240"/>
            <a:ext cx="3200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Pelacak kiriman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3931920"/>
            <a:ext cx="31546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C1C1C"/>
                </a:solidFill>
                <a:latin typeface="Calibri"/>
              </a:rPr>
              <a:t>Pelanggan lebih tenang karena status barang jelas.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38160" y="2926080"/>
            <a:ext cx="3611880" cy="25603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38160" y="2926080"/>
            <a:ext cx="3611880" cy="777240"/>
          </a:xfrm>
          <a:prstGeom prst="rect">
            <a:avLst/>
          </a:prstGeom>
          <a:solidFill>
            <a:srgbClr val="0F2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21040" y="3063240"/>
            <a:ext cx="3200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Monitoring alat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66760" y="3931920"/>
            <a:ext cx="31546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C1C1C"/>
                </a:solidFill>
                <a:latin typeface="Calibri"/>
              </a:rPr>
              <a:t>Tahu apakah alat berjalan normal atau perlu dicek.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644652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A6570"/>
                </a:solidFill>
                <a:latin typeface="Calibri"/>
              </a:rPr>
              <a:t>Technopreneurship · Bisnis Digital Sem 3 · Sub-CPMK 1.2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41280" y="6446520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5A6570"/>
                </a:solidFill>
                <a:latin typeface="Calibri"/>
              </a:rPr>
              <a:t>12/18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1A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0F2C4C"/>
                </a:solidFill>
                <a:latin typeface="Calibri"/>
              </a:rPr>
              <a:t>Satu layar untuk mengingat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229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A6570"/>
                </a:solidFill>
                <a:latin typeface="Calibri"/>
              </a:rPr>
              <a:t>Pilih sesuai masalah orang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371600"/>
            <a:ext cx="11064240" cy="594360"/>
          </a:xfrm>
          <a:prstGeom prst="rect">
            <a:avLst/>
          </a:prstGeom>
          <a:solidFill>
            <a:srgbClr val="0F2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Calibri"/>
              </a:rPr>
              <a:t>Teknologi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1463040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Calibri"/>
              </a:rPr>
              <a:t>Menolong seperti apa?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0" y="1463040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Calibri"/>
              </a:rPr>
              <a:t>Contoh akrab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2057400"/>
            <a:ext cx="11064240" cy="914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2286000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F2C4C"/>
                </a:solidFill>
                <a:latin typeface="Calibri"/>
              </a:rPr>
              <a:t>Platform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0" y="2286000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C1C1C"/>
                </a:solidFill>
                <a:latin typeface="Calibri"/>
              </a:rPr>
              <a:t>Mempertemukan banyak pihak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0" y="228600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A6570"/>
                </a:solidFill>
                <a:latin typeface="Calibri"/>
              </a:rPr>
              <a:t>Gojek, marketplace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3017520"/>
            <a:ext cx="11064240" cy="914400"/>
          </a:xfrm>
          <a:prstGeom prst="rect">
            <a:avLst/>
          </a:prstGeom>
          <a:solidFill>
            <a:srgbClr val="E6EE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3246120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F2C4C"/>
                </a:solidFill>
                <a:latin typeface="Calibri"/>
              </a:rPr>
              <a:t>Pembayaran digital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89120" y="3246120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C1C1C"/>
                </a:solidFill>
                <a:latin typeface="Calibri"/>
              </a:rPr>
              <a:t>Mempermudah bayar &amp; catat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0" y="324612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A6570"/>
                </a:solidFill>
                <a:latin typeface="Calibri"/>
              </a:rPr>
              <a:t>QRIS, e-wallet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3977639"/>
            <a:ext cx="11064240" cy="914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4206240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F2C4C"/>
                </a:solidFill>
                <a:latin typeface="Calibri"/>
              </a:rPr>
              <a:t>AI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120" y="4206240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C1C1C"/>
                </a:solidFill>
                <a:latin typeface="Calibri"/>
              </a:rPr>
              <a:t>Membantu kerja berulang &amp; saran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0" y="420624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A6570"/>
                </a:solidFill>
                <a:latin typeface="Calibri"/>
              </a:rPr>
              <a:t>Chat otomatis, rekomendasi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" y="4937760"/>
            <a:ext cx="11064240" cy="914400"/>
          </a:xfrm>
          <a:prstGeom prst="rect">
            <a:avLst/>
          </a:prstGeom>
          <a:solidFill>
            <a:srgbClr val="E6EE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5166360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F2C4C"/>
                </a:solidFill>
                <a:latin typeface="Calibri"/>
              </a:rPr>
              <a:t>IoT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89120" y="5166360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C1C1C"/>
                </a:solidFill>
                <a:latin typeface="Calibri"/>
              </a:rPr>
              <a:t>Mengambil kabar dari benda nyata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516636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A6570"/>
                </a:solidFill>
                <a:latin typeface="Calibri"/>
              </a:rPr>
              <a:t>Sensor, pelacak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644652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A6570"/>
                </a:solidFill>
                <a:latin typeface="Calibri"/>
              </a:rPr>
              <a:t>Technopreneurship · Bisnis Digital Sem 3 · Sub-CPMK 1.2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241280" y="6446520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5A6570"/>
                </a:solidFill>
                <a:latin typeface="Calibri"/>
              </a:rPr>
              <a:t>13/18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1A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0F2C4C"/>
                </a:solidFill>
                <a:latin typeface="Calibri"/>
              </a:rPr>
              <a:t>Cara memilih yang aman untuk pemula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229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A6570"/>
                </a:solidFill>
                <a:latin typeface="Calibri"/>
              </a:rPr>
              <a:t>Empat langkah yang bisa Anda praktikkan minggu ini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554480"/>
            <a:ext cx="2743200" cy="40233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417320" y="1874519"/>
            <a:ext cx="914400" cy="914400"/>
          </a:xfrm>
          <a:prstGeom prst="roundRect">
            <a:avLst/>
          </a:prstGeom>
          <a:solidFill>
            <a:srgbClr val="1A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417320" y="2057400"/>
            <a:ext cx="914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108960"/>
            <a:ext cx="23774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0F2C4C"/>
                </a:solidFill>
                <a:latin typeface="Calibri"/>
              </a:rPr>
              <a:t>Pahami orangnya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4114800"/>
            <a:ext cx="23774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5A6570"/>
                </a:solidFill>
                <a:latin typeface="Calibri"/>
              </a:rPr>
              <a:t>Siapa yang kesulitan? Seberapa sering?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29000" y="1554480"/>
            <a:ext cx="2743200" cy="40233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343400" y="1874519"/>
            <a:ext cx="914400" cy="914400"/>
          </a:xfrm>
          <a:prstGeom prst="roundRect">
            <a:avLst/>
          </a:prstGeom>
          <a:solidFill>
            <a:srgbClr val="1A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43400" y="2057400"/>
            <a:ext cx="914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11880" y="3108960"/>
            <a:ext cx="23774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0F2C4C"/>
                </a:solidFill>
                <a:latin typeface="Calibri"/>
              </a:rPr>
              <a:t>Coba cara sederhana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11880" y="4114800"/>
            <a:ext cx="23774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5A6570"/>
                </a:solidFill>
                <a:latin typeface="Calibri"/>
              </a:rPr>
              <a:t>Manual, chat, formulir—jika cukup, itu sah.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55080" y="1554480"/>
            <a:ext cx="2743200" cy="40233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269480" y="1874519"/>
            <a:ext cx="914400" cy="914400"/>
          </a:xfrm>
          <a:prstGeom prst="roundRect">
            <a:avLst/>
          </a:prstGeom>
          <a:solidFill>
            <a:srgbClr val="1A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269480" y="2057400"/>
            <a:ext cx="914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37960" y="3108960"/>
            <a:ext cx="23774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0F2C4C"/>
                </a:solidFill>
                <a:latin typeface="Calibri"/>
              </a:rPr>
              <a:t>Tambah digital dasar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37960" y="4114800"/>
            <a:ext cx="23774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5A6570"/>
                </a:solidFill>
                <a:latin typeface="Calibri"/>
              </a:rPr>
              <a:t>Katalog online, pembayaran mudah, catatan rapi.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281160" y="1554480"/>
            <a:ext cx="2743200" cy="40233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10195560" y="1874519"/>
            <a:ext cx="914400" cy="914400"/>
          </a:xfrm>
          <a:prstGeom prst="roundRect">
            <a:avLst/>
          </a:prstGeom>
          <a:solidFill>
            <a:srgbClr val="D97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195560" y="2057400"/>
            <a:ext cx="914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464040" y="3108960"/>
            <a:ext cx="23774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0F2C4C"/>
                </a:solidFill>
                <a:latin typeface="Calibri"/>
              </a:rPr>
              <a:t>Baru teknologi lanjut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64040" y="4114800"/>
            <a:ext cx="23774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5A6570"/>
                </a:solidFill>
                <a:latin typeface="Calibri"/>
              </a:rPr>
              <a:t>AI/IoT/platform hanya jika benar-benar dibutuhkan.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644652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A6570"/>
                </a:solidFill>
                <a:latin typeface="Calibri"/>
              </a:rPr>
              <a:t>Technopreneurship · Bisnis Digital Sem 3 · Sub-CPMK 1.2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241280" y="6446520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5A6570"/>
                </a:solidFill>
                <a:latin typeface="Calibri"/>
              </a:rPr>
              <a:t>14/18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1A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0F2C4C"/>
                </a:solidFill>
                <a:latin typeface="Calibri"/>
              </a:rPr>
              <a:t>Latihan cepat: pasangkan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229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A6570"/>
                </a:solidFill>
                <a:latin typeface="Calibri"/>
              </a:rPr>
              <a:t>Masalah orang → bantuan teknologi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280160"/>
            <a:ext cx="11064240" cy="10515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481328"/>
            <a:ext cx="640080" cy="640080"/>
          </a:xfrm>
          <a:prstGeom prst="roundRect">
            <a:avLst/>
          </a:prstGeom>
          <a:solidFill>
            <a:srgbClr val="D97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572768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" y="1417319"/>
            <a:ext cx="9601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F2C4C"/>
                </a:solidFill>
                <a:latin typeface="Calibri"/>
              </a:rPr>
              <a:t>Ingin mempertemukan UMKM kampus dengan pembeli mahasiswa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1828800"/>
            <a:ext cx="9601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A6570"/>
                </a:solidFill>
                <a:latin typeface="Calibri"/>
              </a:rPr>
              <a:t>Arah jawaban: Platform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468880"/>
            <a:ext cx="11064240" cy="10515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77240" y="2670048"/>
            <a:ext cx="640080" cy="640080"/>
          </a:xfrm>
          <a:prstGeom prst="roundRect">
            <a:avLst/>
          </a:prstGeom>
          <a:solidFill>
            <a:srgbClr val="D97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2761488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45920" y="2606040"/>
            <a:ext cx="9601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F2C4C"/>
                </a:solidFill>
                <a:latin typeface="Calibri"/>
              </a:rPr>
              <a:t>Ingin pelanggan bayar cepat tanpa antre kasir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45920" y="3017520"/>
            <a:ext cx="9601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A6570"/>
                </a:solidFill>
                <a:latin typeface="Calibri"/>
              </a:rPr>
              <a:t>Arah jawaban: Pembayaran digital (QRIS)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3657600"/>
            <a:ext cx="11064240" cy="10515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77240" y="3858768"/>
            <a:ext cx="640080" cy="640080"/>
          </a:xfrm>
          <a:prstGeom prst="roundRect">
            <a:avLst/>
          </a:prstGeom>
          <a:solidFill>
            <a:srgbClr val="D97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3950208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45920" y="3794760"/>
            <a:ext cx="9601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F2C4C"/>
                </a:solidFill>
                <a:latin typeface="Calibri"/>
              </a:rPr>
              <a:t>Ingin menjawab pertanyaan yang sama tiap malam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45920" y="4206240"/>
            <a:ext cx="9601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A6570"/>
                </a:solidFill>
                <a:latin typeface="Calibri"/>
              </a:rPr>
              <a:t>Arah jawaban: AI / chat otomatis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4846320"/>
            <a:ext cx="11064240" cy="10515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777240" y="5047488"/>
            <a:ext cx="640080" cy="640080"/>
          </a:xfrm>
          <a:prstGeom prst="roundRect">
            <a:avLst/>
          </a:prstGeom>
          <a:solidFill>
            <a:srgbClr val="D97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5138928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45920" y="4983480"/>
            <a:ext cx="9601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F2C4C"/>
                </a:solidFill>
                <a:latin typeface="Calibri"/>
              </a:rPr>
              <a:t>Ingin pantau suhu kulkas toko dari kos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45920" y="5394960"/>
            <a:ext cx="9601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A6570"/>
                </a:solidFill>
                <a:latin typeface="Calibri"/>
              </a:rPr>
              <a:t>Arah jawaban: IoT / sensor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644652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A6570"/>
                </a:solidFill>
                <a:latin typeface="Calibri"/>
              </a:rPr>
              <a:t>Technopreneurship · Bisnis Digital Sem 3 · Sub-CPMK 1.2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241280" y="6446520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5A6570"/>
                </a:solidFill>
                <a:latin typeface="Calibri"/>
              </a:rPr>
              <a:t>15/18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1A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0F2C4C"/>
                </a:solidFill>
                <a:latin typeface="Calibri"/>
              </a:rPr>
              <a:t>Aktivitas kelompok (±35 menit)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229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A6570"/>
                </a:solidFill>
                <a:latin typeface="Calibri"/>
              </a:rPr>
              <a:t>Pilih teknologi dengan alasan yang manusiawi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28016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5A6570"/>
                </a:solidFill>
                <a:latin typeface="Calibri"/>
              </a:rPr>
              <a:t>Ambil 1 masalah nyata, lalu isi lima kolom ini di kertas/HP: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783080"/>
            <a:ext cx="11247120" cy="32004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011680"/>
            <a:ext cx="2057400" cy="777240"/>
          </a:xfrm>
          <a:prstGeom prst="rect">
            <a:avLst/>
          </a:prstGeom>
          <a:solidFill>
            <a:srgbClr val="1A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965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Masalah orang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926080"/>
            <a:ext cx="2057400" cy="1737360"/>
          </a:xfrm>
          <a:prstGeom prst="rect">
            <a:avLst/>
          </a:prstGeom>
          <a:solidFill>
            <a:srgbClr val="E6EE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19" y="3383280"/>
            <a:ext cx="1874519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5A6570"/>
                </a:solidFill>
                <a:latin typeface="Calibri"/>
              </a:rPr>
              <a:t>Tulis di sini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834639" y="2011680"/>
            <a:ext cx="2057400" cy="777240"/>
          </a:xfrm>
          <a:prstGeom prst="rect">
            <a:avLst/>
          </a:prstGeom>
          <a:solidFill>
            <a:srgbClr val="1A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880359" y="2103120"/>
            <a:ext cx="1965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Siapa yang dibantu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834639" y="2926080"/>
            <a:ext cx="2057400" cy="1737360"/>
          </a:xfrm>
          <a:prstGeom prst="rect">
            <a:avLst/>
          </a:prstGeom>
          <a:solidFill>
            <a:srgbClr val="E6EE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926079" y="3383280"/>
            <a:ext cx="1874519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5A6570"/>
                </a:solidFill>
                <a:latin typeface="Calibri"/>
              </a:rPr>
              <a:t>Tulis di sini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0" y="2011680"/>
            <a:ext cx="2057400" cy="777240"/>
          </a:xfrm>
          <a:prstGeom prst="rect">
            <a:avLst/>
          </a:prstGeom>
          <a:solidFill>
            <a:srgbClr val="1A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74920" y="2103120"/>
            <a:ext cx="1965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Cara tanpa teknologi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0" y="2926080"/>
            <a:ext cx="2057400" cy="1737360"/>
          </a:xfrm>
          <a:prstGeom prst="rect">
            <a:avLst/>
          </a:prstGeom>
          <a:solidFill>
            <a:srgbClr val="E6EE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20640" y="3383280"/>
            <a:ext cx="1874519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5A6570"/>
                </a:solidFill>
                <a:latin typeface="Calibri"/>
              </a:rPr>
              <a:t>Tulis di sini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223759" y="2011680"/>
            <a:ext cx="2057400" cy="777240"/>
          </a:xfrm>
          <a:prstGeom prst="rect">
            <a:avLst/>
          </a:prstGeom>
          <a:solidFill>
            <a:srgbClr val="1A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269479" y="2103120"/>
            <a:ext cx="1965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Cara digital sederhana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223759" y="2926080"/>
            <a:ext cx="2057400" cy="1737360"/>
          </a:xfrm>
          <a:prstGeom prst="rect">
            <a:avLst/>
          </a:prstGeom>
          <a:solidFill>
            <a:srgbClr val="E6EE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199" y="3383280"/>
            <a:ext cx="1874519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5A6570"/>
                </a:solidFill>
                <a:latin typeface="Calibri"/>
              </a:rPr>
              <a:t>Tulis di sini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418319" y="2011680"/>
            <a:ext cx="2057400" cy="777240"/>
          </a:xfrm>
          <a:prstGeom prst="rect">
            <a:avLst/>
          </a:prstGeom>
          <a:solidFill>
            <a:srgbClr val="D97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464040" y="2103120"/>
            <a:ext cx="1965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Teknologi lanjut (opsional)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418319" y="2926080"/>
            <a:ext cx="2057400" cy="1737360"/>
          </a:xfrm>
          <a:prstGeom prst="rect">
            <a:avLst/>
          </a:prstGeom>
          <a:solidFill>
            <a:srgbClr val="E6EE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509759" y="3383280"/>
            <a:ext cx="1874519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5A6570"/>
                </a:solidFill>
                <a:latin typeface="Calibri"/>
              </a:rPr>
              <a:t>Tulis di sini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521208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F2C4C"/>
                </a:solidFill>
                <a:latin typeface="Calibri"/>
              </a:rPr>
              <a:t>Presentasi 1 menit: ceritakan alasan pilihan Anda, bukan daftar istilah.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644652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A6570"/>
                </a:solidFill>
                <a:latin typeface="Calibri"/>
              </a:rPr>
              <a:t>Technopreneurship · Bisnis Digital Sem 3 · Sub-CPMK 1.2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241280" y="6446520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5A6570"/>
                </a:solidFill>
                <a:latin typeface="Calibri"/>
              </a:rPr>
              <a:t>16/18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1A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0F2C4C"/>
                </a:solidFill>
                <a:latin typeface="Calibri"/>
              </a:rPr>
              <a:t>Simpulan yang bisa dibawa pulang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229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A6570"/>
                </a:solidFill>
                <a:latin typeface="Calibri"/>
              </a:rPr>
              <a:t>Empat kalimat hangat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325880"/>
            <a:ext cx="5486400" cy="20116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691640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F2C4C"/>
                </a:solidFill>
                <a:latin typeface="Calibri"/>
              </a:rPr>
              <a:t>Platform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2286000"/>
            <a:ext cx="49377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5A6570"/>
                </a:solidFill>
                <a:latin typeface="Calibri"/>
              </a:rPr>
              <a:t>Tempat orang bertemu orang agar saling terbantu.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59" y="1325880"/>
            <a:ext cx="5486400" cy="20116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79" y="1691640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F2C4C"/>
                </a:solidFill>
                <a:latin typeface="Calibri"/>
              </a:rPr>
              <a:t>Pembayaran digital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79" y="2286000"/>
            <a:ext cx="49377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5A6570"/>
                </a:solidFill>
                <a:latin typeface="Calibri"/>
              </a:rPr>
              <a:t>Membuat bayar dan mencatat terasa lebih ringan.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611880"/>
            <a:ext cx="5486400" cy="20116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59" y="3977640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F2C4C"/>
                </a:solidFill>
                <a:latin typeface="Calibri"/>
              </a:rPr>
              <a:t>AI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59" y="4572000"/>
            <a:ext cx="49377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5A6570"/>
                </a:solidFill>
                <a:latin typeface="Calibri"/>
              </a:rPr>
              <a:t>Asisten untuk kerja berulang dan memberi saran.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09359" y="3611880"/>
            <a:ext cx="5486400" cy="20116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79" y="3977640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F2C4C"/>
                </a:solidFill>
                <a:latin typeface="Calibri"/>
              </a:rPr>
              <a:t>IoT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79" y="4572000"/>
            <a:ext cx="49377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5A6570"/>
                </a:solidFill>
                <a:latin typeface="Calibri"/>
              </a:rPr>
              <a:t>Benda nyata yang memberi kabar lewat data.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44652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A6570"/>
                </a:solidFill>
                <a:latin typeface="Calibri"/>
              </a:rPr>
              <a:t>Technopreneurship · Bisnis Digital Sem 3 · Sub-CPMK 1.2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41280" y="6446520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5A6570"/>
                </a:solidFill>
                <a:latin typeface="Calibri"/>
              </a:rPr>
              <a:t>17/18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1A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0F2C4C"/>
                </a:solidFill>
                <a:latin typeface="Calibri"/>
              </a:rPr>
              <a:t>Tugas &amp; penutup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229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A6570"/>
                </a:solidFill>
                <a:latin typeface="Calibri"/>
              </a:rPr>
              <a:t>Langkah kecil sebelum ideasi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325880"/>
            <a:ext cx="11064240" cy="22860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554480"/>
            <a:ext cx="10424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D97B2A"/>
                </a:solidFill>
                <a:latin typeface="Calibri"/>
              </a:rPr>
              <a:t>Untuk pertemuan berikutnya: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057400"/>
            <a:ext cx="104241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1C1C1C"/>
                </a:solidFill>
                <a:latin typeface="Calibri"/>
              </a:rPr>
              <a:t>• Tuliskan 10 kesulitan orang di sekitar Anda.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1C1C1C"/>
                </a:solidFill>
                <a:latin typeface="Calibri"/>
              </a:rPr>
              <a:t>• Pilih 3 yang paling sering terjadi. Untuk tiap masalah: siapa yang dibantu, cara paling sederhana, dan apakah perlu platform/pembayaran digital/AI/IoT.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3840480"/>
            <a:ext cx="11064240" cy="1828800"/>
          </a:xfrm>
          <a:prstGeom prst="roundRect">
            <a:avLst/>
          </a:prstGeom>
          <a:solidFill>
            <a:srgbClr val="0F2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206240"/>
            <a:ext cx="104241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Teknologi adalah alat. Kepedulian pada manusia adalah arahnya.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4652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A6570"/>
                </a:solidFill>
                <a:latin typeface="Calibri"/>
              </a:rPr>
              <a:t>Technopreneurship · Bisnis Digital Sem 3 · Sub-CPMK 1.2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41280" y="6446520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5A6570"/>
                </a:solidFill>
                <a:latin typeface="Calibri"/>
              </a:rPr>
              <a:t>18/18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